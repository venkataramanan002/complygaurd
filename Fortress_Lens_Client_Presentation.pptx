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 Semibold"/>
              </a:defRPr>
            </a:pPr>
            <a:r>
              <a:t>FORTRESS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8FAFC"/>
                </a:solidFill>
                <a:latin typeface="Segoe UI Light"/>
              </a:defRPr>
            </a:pPr>
            <a:r>
              <a:t>Fortress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94A3B8"/>
                </a:solidFill>
                <a:latin typeface="Segoe UI Light"/>
              </a:defRPr>
            </a:pPr>
            <a:r>
              <a:t>Enterprise Firewall Analytics &amp; Network Security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93776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Client Presentation  |  April 2026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132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 Italic"/>
              </a:defRPr>
            </a:pPr>
            <a:r>
              <a:t>Transforming firewall data into actionable security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7772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1 / 16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8FAFC"/>
                </a:solidFill>
                <a:latin typeface="Segoe UI"/>
              </a:defRPr>
            </a:pPr>
            <a:r>
              <a:t>Enterprise Firewalls Are a Blind Spot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560320"/>
            <a:ext cx="2926080" cy="3840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4439" y="2697480"/>
            <a:ext cx="26517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F4444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474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Segoe UI"/>
              </a:defRPr>
            </a:pPr>
            <a:r>
              <a:t>Rule Sprawl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0233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Average enterprise firewalls accumulate 5,000+ rules over time.</a:t>
            </a:r>
            <a:br/>
            <a:r>
              <a:t>Over 40% are redundant, shadowed, or obsolete — yet no one audits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2926080" cy="3840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697480"/>
            <a:ext cx="26517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97316"/>
                </a:solidFill>
                <a:latin typeface="Segoe UI Light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474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Segoe UI"/>
              </a:defRPr>
            </a:pPr>
            <a:r>
              <a:t>Blind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0233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Security teams can't see which rules create actual attack paths.</a:t>
            </a:r>
            <a:br/>
            <a:r>
              <a:t>Risk is assessed manually — if it's assessed at 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560320"/>
            <a:ext cx="2926080" cy="3840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2697480"/>
            <a:ext cx="26517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97316"/>
                </a:solidFill>
                <a:latin typeface="Segoe UI Light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474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Compliance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0233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Auditors demand PCI DSS, NIST, HIPAA, SOX evidence.</a:t>
            </a:r>
            <a:br/>
            <a:r>
              <a:t>Manual compliance checks take weeks and are outdated the moment they're done.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98480" y="2560320"/>
            <a:ext cx="2926080" cy="3840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35640" y="2697480"/>
            <a:ext cx="26517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2708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F4444"/>
                </a:solidFill>
                <a:latin typeface="Segoe UI Light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3474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Multi-Vendor Chaos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40233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Palo Alto, Cisco ASA, FortiGate — each with different syntax.</a:t>
            </a:r>
            <a:br/>
            <a:r>
              <a:t>No unified view. No single source of truth.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85800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 Italic"/>
              </a:defRPr>
            </a:pPr>
            <a:r>
              <a:t>The result: organizations spend millions on firewalls but can't answer basic questions about their security posture.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0" y="7772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2 / 16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Segoe UI"/>
              </a:defRPr>
            </a:pPr>
            <a:r>
              <a:t>Fortress Lens — See Everything. Fix What Matters.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22860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Fortress Lens is an enterprise-grade firewall analytics platform that ingests configurations from any major vendor, automatically scores risk, maps attack paths, checks compliance, and delivers actionable remediation — all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474720"/>
            <a:ext cx="4023360" cy="347472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INGEST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297680"/>
            <a:ext cx="34747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Upload any firewall config.</a:t>
            </a:r>
            <a:br/>
            <a:r>
              <a:t>We parse Palo Alto XML, Cisco ASA,</a:t>
            </a:r>
            <a:br/>
            <a:r>
              <a:t>and FortiGate — automatically.</a:t>
            </a:r>
            <a:br/>
            <a:r>
              <a:t>Also ingests CSV, JSON, XLSX data</a:t>
            </a:r>
            <a:br/>
            <a:r>
              <a:t>and real-time syslog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3474720"/>
            <a:ext cx="4023360" cy="347472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3657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 Light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ANALYZE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297680"/>
            <a:ext cx="34747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457200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11 analysis engines run instantly:</a:t>
            </a:r>
            <a:br/>
            <a:r>
              <a:t>risk scoring, compliance checks,</a:t>
            </a:r>
            <a:br/>
            <a:r>
              <a:t>attack path mapping, rule anomaly</a:t>
            </a:r>
            <a:br/>
            <a:r>
              <a:t>detection, hardening assessment,</a:t>
            </a:r>
            <a:br/>
            <a:r>
              <a:t>and what-if simulation.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19" y="3474720"/>
            <a:ext cx="4023360" cy="347472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3657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Segoe UI Light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19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4297680"/>
            <a:ext cx="34747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457200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Prioritized remediation tasks.</a:t>
            </a:r>
            <a:br/>
            <a:r>
              <a:t>One-click compliance reports.</a:t>
            </a:r>
            <a:br/>
            <a:r>
              <a:t>Change management workflows.</a:t>
            </a:r>
            <a:br/>
            <a:r>
              <a:t>Rule lifecycle governance.</a:t>
            </a:r>
            <a:br/>
            <a:r>
              <a:t>SIEM integration &amp; alerting.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0" y="7772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3 / 16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Segoe UI"/>
              </a:defRPr>
            </a:pPr>
            <a:r>
              <a:t>From Raw Config to Actionable Intelligence in Seconds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2560320" cy="27432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Segoe UI Light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Segoe UI"/>
              </a:defRPr>
            </a:pPr>
            <a:r>
              <a:t>UPLOAD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20440"/>
            <a:ext cx="21945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Drag &amp; drop firewall</a:t>
            </a:r>
            <a:br/>
            <a:r>
              <a:t>config files (.xml, .conf)</a:t>
            </a:r>
            <a:br/>
            <a:r>
              <a:t>or traffic data (.csv, .xlsx)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377440"/>
            <a:ext cx="2560320" cy="27432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560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6B6D4"/>
                </a:solidFill>
                <a:latin typeface="Segoe UI Light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Segoe UI"/>
              </a:defRPr>
            </a:pPr>
            <a:r>
              <a:t>DETECT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3520440"/>
            <a:ext cx="21945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6576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Auto-detect vendor:</a:t>
            </a:r>
            <a:br/>
            <a:r>
              <a:t>Palo Alto, Cisco ASA,</a:t>
            </a:r>
            <a:br/>
            <a:r>
              <a:t>FortiGate — zero config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77440"/>
            <a:ext cx="2560320" cy="27432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560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Segoe UI Light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Segoe UI"/>
              </a:defRPr>
            </a:pPr>
            <a:r>
              <a:t>PARSE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520440"/>
            <a:ext cx="21945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Extract rules, zones,</a:t>
            </a:r>
            <a:br/>
            <a:r>
              <a:t>topology, services,</a:t>
            </a:r>
            <a:br/>
            <a:r>
              <a:t>NAT mappings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377440"/>
            <a:ext cx="2560320" cy="27432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560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  <a:latin typeface="Segoe UI Light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Segoe UI"/>
              </a:defRPr>
            </a:pPr>
            <a:r>
              <a:t>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3520440"/>
            <a:ext cx="219456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36576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11 engines score risk,</a:t>
            </a:r>
            <a:br/>
            <a:r>
              <a:t>map attack paths,</a:t>
            </a:r>
            <a:br/>
            <a:r>
              <a:t>check compliance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0" y="2377440"/>
            <a:ext cx="2560320" cy="27432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0" y="2560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  <a:latin typeface="Segoe UI Light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Segoe UI"/>
              </a:defRPr>
            </a:pPr>
            <a:r>
              <a:t>PRESENT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070080" y="3520440"/>
            <a:ext cx="219456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0" y="36576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Interactive dashboard</a:t>
            </a:r>
            <a:br/>
            <a:r>
              <a:t>with real-time charts,</a:t>
            </a:r>
            <a:br/>
            <a:r>
              <a:t>graphs &amp;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486400"/>
            <a:ext cx="13533120" cy="219456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Segoe UI"/>
              </a:defRPr>
            </a:pPr>
            <a:r>
              <a:t>Data Source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12648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Every record is tagged with its origin — config_projection (derived from rules), syslog (real-time feeds), or csv_import (uploaded data).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58368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On re-upload, only config-projected data is replaced. Real syslog and imported traffic records are preserved — no data loss, ever.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704088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Background processing with real-time progress tracking. Upload a 10,000-rule config and keep working while analysis runs.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0" y="7772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4 / 16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MULTI-VENDOR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Segoe UI"/>
              </a:defRPr>
            </a:pPr>
            <a:r>
              <a:t>One Platform. Every Major Firewall Vendor.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2286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4114800" cy="45720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423160"/>
            <a:ext cx="3749039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Palo Alto Networks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PAN-OS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65760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Full XML config parsing</a:t>
            </a:r>
            <a:br/>
            <a:r>
              <a:t>Zone/rule/service/NAT extraction</a:t>
            </a:r>
            <a:br/>
            <a:r>
              <a:t>PAN-OS service name resolution</a:t>
            </a:r>
            <a:br/>
            <a:r>
              <a:t>VSYS-aware multi-context support</a:t>
            </a:r>
            <a:br/>
            <a:r>
              <a:t>Real-time API collector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2286000"/>
            <a:ext cx="4114800" cy="45720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77840" y="2423160"/>
            <a:ext cx="3749039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651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Cisco ASA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ASA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65760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Native .conf file parsing</a:t>
            </a:r>
            <a:br/>
            <a:r>
              <a:t>ACL and object-group extraction</a:t>
            </a:r>
            <a:br/>
            <a:r>
              <a:t>NAT rule interpretation</a:t>
            </a:r>
            <a:br/>
            <a:r>
              <a:t>Interface/zone mapping</a:t>
            </a:r>
            <a:br/>
            <a:r>
              <a:t>SSH-based config collection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2286000"/>
            <a:ext cx="4114800" cy="45720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0" y="2423160"/>
            <a:ext cx="3749039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2651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Fortinet FortiGate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FortiOS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65760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Config file parsing</a:t>
            </a:r>
            <a:br/>
            <a:r>
              <a:t>Policy and address object extraction</a:t>
            </a:r>
            <a:br/>
            <a:r>
              <a:t>VDOM support</a:t>
            </a:r>
            <a:br/>
            <a:r>
              <a:t>Service group resolution</a:t>
            </a:r>
            <a:br/>
            <a:r>
              <a:t>REST API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72237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 Italic"/>
              </a:defRPr>
            </a:pPr>
            <a:r>
              <a:t>Additional formats: CSV traffic logs, JSON data exports, XLSX spreadsheets — all auto-detected and validated on upload.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0" y="7772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5 / 16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ANALYSIS 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Segoe UI"/>
              </a:defRPr>
            </a:pPr>
            <a:r>
              <a:t>11 Purpose-Built Security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395728"/>
            <a:ext cx="301752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Risk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Deterministic scoring using CIDR analysis, port</a:t>
            </a:r>
            <a:br/>
            <a:r>
              <a:t>classification, "any" rules, shadow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22860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2395728"/>
            <a:ext cx="30175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971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PCI DSS 4.0, NIST 800-53, CIS Benchmarks,</a:t>
            </a:r>
            <a:br/>
            <a:r>
              <a:t>HIPAA, SOX — automated checks with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2860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80" y="2395728"/>
            <a:ext cx="30175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Attack Paths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971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DFS graph traversal through zone adjacency</a:t>
            </a:r>
            <a:br/>
            <a:r>
              <a:t>to map all possible attacker routes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09960" y="22860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247120" y="2395728"/>
            <a:ext cx="301752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9284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Attack Surface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2971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Per-port risk scoring with lateral movement</a:t>
            </a:r>
            <a:br/>
            <a:r>
              <a:t>classification and bidirectional exposure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148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224528"/>
            <a:ext cx="30175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Rule Anomalies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00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Detect shadowed, redundant, overlapping, and</a:t>
            </a:r>
            <a:br/>
            <a:r>
              <a:t>duplicate rules via CIDR comparison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41148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4224528"/>
            <a:ext cx="30175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6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Hardening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4800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Multi-check device assessment — rule hygiene,</a:t>
            </a:r>
            <a:br/>
            <a:r>
              <a:t>risk posture, access control. Grades A through 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1148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26680" y="4224528"/>
            <a:ext cx="30175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Simulation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800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What-if modeling: test the impact of adding or</a:t>
            </a:r>
            <a:br/>
            <a:r>
              <a:t>removing rules before deployment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109960" y="41148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247120" y="4224528"/>
            <a:ext cx="30175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9284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Policy Diff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4800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Compare before/after rule states to detect</a:t>
            </a:r>
            <a:br/>
            <a:r>
              <a:t>policy changes and configuration drift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9436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" y="6053328"/>
            <a:ext cx="30175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217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Segmentation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629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Build trust relationships and generate</a:t>
            </a:r>
            <a:br/>
            <a:r>
              <a:t>microsegmentation recommendations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69080" y="59436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06240" y="6053328"/>
            <a:ext cx="30175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6217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Drift Detection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6629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Detect configuration drift between</a:t>
            </a:r>
            <a:br/>
            <a:r>
              <a:t>backup snapshots automatically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89520" y="59436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26680" y="6053328"/>
            <a:ext cx="30175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0" y="6217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Report Generator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6629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PDF, JSON, and HTML reports with</a:t>
            </a:r>
            <a:br/>
            <a:r>
              <a:t>full evidence chains for auditors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58800" y="7772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6 / 16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Segoe UI"/>
              </a:defRPr>
            </a:pPr>
            <a:r>
              <a:t>18 Purpose-Built Security 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22860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395728"/>
            <a:ext cx="30175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Executive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KPIs, risk score, threat counts,</a:t>
            </a:r>
            <a:br/>
            <a:r>
              <a:t>compliance grades, health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22860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2395728"/>
            <a:ext cx="30175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Live Traffic 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971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Real-time connection table with</a:t>
            </a:r>
            <a:br/>
            <a:r>
              <a:t>filtering, search, and CSV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2860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80" y="2395728"/>
            <a:ext cx="30175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Traffic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971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Top senders/receivers, zone flow</a:t>
            </a:r>
            <a:br/>
            <a:r>
              <a:t>matrix, application usage charts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09960" y="22860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247120" y="2395728"/>
            <a:ext cx="30175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9284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Threat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2971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Severity breakdown with interactive</a:t>
            </a:r>
            <a:br/>
            <a:r>
              <a:t>charts and threat detail modals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148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224528"/>
            <a:ext cx="30175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Deep Analysis Suite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00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5-tab suite: reachability, ports,</a:t>
            </a:r>
            <a:br/>
            <a:r>
              <a:t>rule impact, anomalies, simulation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41148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4224528"/>
            <a:ext cx="30175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6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Attack Path Visualizer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4800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D3 force-directed interactive graph</a:t>
            </a:r>
            <a:br/>
            <a:r>
              <a:t>with node detail &amp; risk filtering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1148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26680" y="4224528"/>
            <a:ext cx="30175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Remediation Tracker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800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Priority-based tasks with progress</a:t>
            </a:r>
            <a:br/>
            <a:r>
              <a:t>ring and status management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109960" y="41148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247120" y="4224528"/>
            <a:ext cx="30175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9284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Rule Lifecycle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4800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Ownership assignment, certification</a:t>
            </a:r>
            <a:br/>
            <a:r>
              <a:t>tracking, recertification workflows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9436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" y="6053328"/>
            <a:ext cx="30175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217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Compliance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629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Multi-framework compliance with</a:t>
            </a:r>
            <a:br/>
            <a:r>
              <a:t>evidence chains and PDF export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69080" y="59436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06240" y="6053328"/>
            <a:ext cx="30175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6217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Change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6629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Full workflow: draft, pending,</a:t>
            </a:r>
            <a:br/>
            <a:r>
              <a:t>approved, deployed, rollback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89520" y="59436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26680" y="6053328"/>
            <a:ext cx="30175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0" y="6217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Network Topology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6629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D3 force-directed topology graph</a:t>
            </a:r>
            <a:br/>
            <a:r>
              <a:t>with interactive zoom and pan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109960" y="594360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247120" y="6053328"/>
            <a:ext cx="30175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292840" y="6217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Device Collector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92840" y="6629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SSH/API device polling, backup</a:t>
            </a:r>
            <a:br/>
            <a:r>
              <a:t>history with git-like diff viewer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258800" y="7772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7 / 16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RISK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Segoe UI"/>
              </a:defRPr>
            </a:pPr>
            <a:r>
              <a:t>Deterministic Risk Scoring — No Guesswork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22860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6583680" cy="50292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Segoe UI"/>
              </a:defRPr>
            </a:pPr>
            <a:r>
              <a:t>How Risk Scoring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017520"/>
            <a:ext cx="603504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6035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Segoe UI"/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CIDR Analysis — /0 to /32 scope assessment. Broader ranges = higher risk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Segoe UI"/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Port Classification — Critical services (SSH, RDP, SQL) score higher than web traffic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Segoe UI"/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"Any" Rule Detection — Rules with "any" source, dest, or service are flagged immediately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Segoe UI"/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Shadow Detection — Identifies rules that are never hit because earlier rules match first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Segoe UI"/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Zone Trust Analysis — Cross-trust-boundary rules (untrust → trust) carry maximum weight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Segoe UI"/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Service Resolution — PAN-OS service names (e.g., svc-mysql) resolved to actual port numbers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Segoe UI"/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Bidirectional Exposure — Checks both inbound and outbound risk for each rule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Segoe UI"/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Composite Scoring — All factors weighted into a 0-100 deterministic score per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286000"/>
            <a:ext cx="6217920" cy="50292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Segoe UI"/>
              </a:defRPr>
            </a:pPr>
            <a:r>
              <a:t>Risk Levels &amp; 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017520"/>
            <a:ext cx="5760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200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CRITICAL  (80-100)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520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Immediate action required. Rules allowing</a:t>
            </a:r>
            <a:br/>
            <a:r>
              <a:t>wide-open access across trust boundaries.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251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Segoe UI"/>
              </a:defRPr>
            </a:pPr>
            <a:r>
              <a:t>HIGH  (60-79)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5720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Priority remediation. Overly permissive rules</a:t>
            </a:r>
            <a:br/>
            <a:r>
              <a:t>with significant attack surface.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303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MEDIUM  (40-59)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62355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Scheduled review. Rules with some risk factors</a:t>
            </a:r>
            <a:br/>
            <a:r>
              <a:t>that need optimization.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63550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LOW  (0-39)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667511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Acceptable risk. Well-scoped rules with</a:t>
            </a:r>
            <a:br/>
            <a:r>
              <a:t>proper segmentation.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0" y="7772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8 / 16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Segoe UI"/>
              </a:defRPr>
            </a:pPr>
            <a:r>
              <a:t>ATTACK PATH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Segoe UI"/>
              </a:defRPr>
            </a:pPr>
            <a:r>
              <a:t>See How Attackers Move Through Your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22860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6400800" cy="50292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Segoe UI"/>
              </a:defRPr>
            </a:pPr>
            <a:r>
              <a:t>Graph-Based Path Discovery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017520"/>
            <a:ext cx="5852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Segoe UI"/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Builds a directed graph from firewall rules and zone adjacency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Segoe UI"/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DFS traversal finds every possible path from entry to target zones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Segoe UI"/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Each path scored by cumulative risk, hop count, and difficulty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Segoe UI"/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Identifies the "weakest link" — the single rule enabling the path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Segoe UI"/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Interactive D3 force-directed visualization with zoom &amp; pan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Segoe UI"/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Click any node to see connected rules, IPs, and risk details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Segoe UI"/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Filter paths by risk level, source zone, or target zone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3B82F6"/>
                </a:solidFill>
                <a:latin typeface="Segoe UI"/>
              </a:rPr>
              <a:t>●  </a:t>
            </a:r>
            <a:r>
              <a:rPr sz="1300">
                <a:solidFill>
                  <a:srgbClr val="94A3B8"/>
                </a:solidFill>
                <a:latin typeface="Segoe UI"/>
              </a:rPr>
              <a:t>Supports IP-to-IP vulnerability analysis with attack surface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286000"/>
            <a:ext cx="6400800" cy="50292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Example: External to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3017520"/>
            <a:ext cx="58521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UNTRUST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Internet-facing</a:t>
            </a:r>
            <a:br/>
            <a:r>
              <a:t>Entry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  <a:latin typeface="Segoe UI"/>
              </a:defRPr>
            </a:pPr>
            <a:r>
              <a:t>DMZ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Web servers</a:t>
            </a:r>
            <a:br/>
            <a:r>
              <a:t>Public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ACC15"/>
                </a:solidFill>
                <a:latin typeface="Segoe UI"/>
              </a:defRPr>
            </a:pPr>
            <a:r>
              <a:t>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Internal network</a:t>
            </a:r>
            <a:br/>
            <a:r>
              <a:t>User workstations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035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Critical data</a:t>
            </a:r>
            <a:br/>
            <a:r>
              <a:t>Target 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0" y="7772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9 / 16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COMPLIANCE &amp;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Segoe UI"/>
              </a:defRPr>
            </a:pPr>
            <a:r>
              <a:t>Audit-Ready in Minutes, Not Weeks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22860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42316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PCI DSS 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194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Payment card security standard.</a:t>
            </a:r>
            <a:br/>
            <a:r>
              <a:t>Automated checks for segmentation,</a:t>
            </a:r>
            <a:br/>
            <a:r>
              <a:t>access controls, encryption,</a:t>
            </a:r>
            <a:br/>
            <a:r>
              <a:t>and default credential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28600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2423160"/>
            <a:ext cx="2286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NIST 800-53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108960"/>
            <a:ext cx="2194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Federal security controls.</a:t>
            </a:r>
            <a:br/>
            <a:r>
              <a:t>Maps firewall rules to AC, SC, AU</a:t>
            </a:r>
            <a:br/>
            <a:r>
              <a:t>control families with evidence</a:t>
            </a:r>
            <a:br/>
            <a:r>
              <a:t>for each finding.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423160"/>
            <a:ext cx="22860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CIS Benchmarks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2194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Industry best practices.</a:t>
            </a:r>
            <a:br/>
            <a:r>
              <a:t>Device hardening checks against</a:t>
            </a:r>
            <a:br/>
            <a:r>
              <a:t>CIS firewall benchmarks with</a:t>
            </a:r>
            <a:br/>
            <a:r>
              <a:t>pass/fail scoring.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28600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2423160"/>
            <a:ext cx="22860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Segoe UI"/>
              </a:defRPr>
            </a:pPr>
            <a:r>
              <a:t>HIPAA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108960"/>
            <a:ext cx="2194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Healthcare data protection.</a:t>
            </a:r>
            <a:br/>
            <a:r>
              <a:t>Validates PHI access controls,</a:t>
            </a:r>
            <a:br/>
            <a:r>
              <a:t>audit logging, and network</a:t>
            </a:r>
            <a:br/>
            <a:r>
              <a:t>segmentation requirements.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0" y="228600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24360" y="2423160"/>
            <a:ext cx="22860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SOX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0" y="3108960"/>
            <a:ext cx="2194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Financial controls compliance.</a:t>
            </a:r>
            <a:br/>
            <a:r>
              <a:t>Change management, access reviews,</a:t>
            </a:r>
            <a:br/>
            <a:r>
              <a:t>and segregation of duties</a:t>
            </a:r>
            <a:br/>
            <a:r>
              <a:t>validation.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6126480"/>
            <a:ext cx="13533120" cy="146304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309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Segoe UI"/>
              </a:defRPr>
            </a:pPr>
            <a:r>
              <a:t>Report Formats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766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Formatted compliance reports</a:t>
            </a:r>
            <a:br/>
            <a:r>
              <a:t>with cover page &amp;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766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Machine-readable output</a:t>
            </a:r>
            <a:br/>
            <a:r>
              <a:t>for SIEM &amp; 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HTML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766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Interactive web reports</a:t>
            </a:r>
            <a:br/>
            <a:r>
              <a:t>for stakeholder sharing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0" y="7772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10 / 16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REAL-TIME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Segoe UI"/>
              </a:defRPr>
            </a:pPr>
            <a:r>
              <a:t>Continuous Visibility, Not Point-in-Time Snapshots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2286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291840" cy="45720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423160"/>
            <a:ext cx="30175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Segoe UI"/>
              </a:defRPr>
            </a:pPr>
            <a:r>
              <a:t>Syslog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Built-in async UDP + TCP syslog</a:t>
            </a:r>
            <a:br/>
            <a:r>
              <a:t>receiver with queue buffering and</a:t>
            </a:r>
            <a:br/>
            <a:r>
              <a:t>batch processing. Auto-detects</a:t>
            </a:r>
            <a:br/>
            <a:r>
              <a:t>vendor format. Tags all records</a:t>
            </a:r>
            <a:br/>
            <a:r>
              <a:t>with source=syslog for tracking.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Segoe UI Italic"/>
              </a:defRPr>
            </a:pPr>
            <a:r>
              <a:t>Real-time feed from</a:t>
            </a:r>
            <a:br/>
            <a:r>
              <a:t>firewall devices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286000"/>
            <a:ext cx="3291840" cy="45720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2423160"/>
            <a:ext cx="30175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Segoe UI"/>
              </a:defRPr>
            </a:pPr>
            <a:r>
              <a:t>Config Drift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0040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Automatically detects when firewall</a:t>
            </a:r>
            <a:br/>
            <a:r>
              <a:t>configurations change between</a:t>
            </a:r>
            <a:br/>
            <a:r>
              <a:t>backup snapshots. Generates drift</a:t>
            </a:r>
            <a:br/>
            <a:r>
              <a:t>alerts with full diff data for</a:t>
            </a:r>
            <a:br/>
            <a:r>
              <a:t>immediate investigation.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6035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97316"/>
                </a:solidFill>
                <a:latin typeface="Segoe UI Italic"/>
              </a:defRPr>
            </a:pPr>
            <a:r>
              <a:t>Catch unauthorized</a:t>
            </a:r>
            <a:br/>
            <a:r>
              <a:t>changes instantly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286000"/>
            <a:ext cx="3291840" cy="45720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80" y="2423160"/>
            <a:ext cx="30175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Segoe UI"/>
              </a:defRPr>
            </a:pPr>
            <a:r>
              <a:t>Device Health Polling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20040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SNMP-based monitoring of CPU,</a:t>
            </a:r>
            <a:br/>
            <a:r>
              <a:t>memory, session counts, and</a:t>
            </a:r>
            <a:br/>
            <a:r>
              <a:t>interface status. Tracks system</a:t>
            </a:r>
            <a:br/>
            <a:r>
              <a:t>health trends over time with</a:t>
            </a:r>
            <a:br/>
            <a:r>
              <a:t>configurable poll intervals.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035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C55E"/>
                </a:solidFill>
                <a:latin typeface="Segoe UI Italic"/>
              </a:defRPr>
            </a:pPr>
            <a:r>
              <a:t>Know before the</a:t>
            </a:r>
            <a:br/>
            <a:r>
              <a:t>firewall goes down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109960" y="2286000"/>
            <a:ext cx="3291840" cy="45720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247120" y="2423160"/>
            <a:ext cx="301752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9284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Segoe UI"/>
              </a:defRPr>
            </a:pPr>
            <a:r>
              <a:t>Threat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320040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Multi-source IP reputation using</a:t>
            </a:r>
            <a:br/>
            <a:r>
              <a:t>AbuseIPDB (40%), OTX (30%), and</a:t>
            </a:r>
            <a:br/>
            <a:r>
              <a:t>VirusTotal (30%). 24-hour caching.</a:t>
            </a:r>
            <a:br/>
            <a:r>
              <a:t>Automatic enrichment of live</a:t>
            </a:r>
            <a:br/>
            <a:r>
              <a:t>traffic connections.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035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Segoe UI Italic"/>
              </a:defRPr>
            </a:pPr>
            <a:r>
              <a:t>Enrich data with</a:t>
            </a:r>
            <a:br/>
            <a:r>
              <a:t>global threat feeds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0" y="7772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11 / 16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Segoe UI"/>
              </a:defRPr>
            </a:pPr>
            <a:r>
              <a:t>Enterprise-Grade Architecture Built for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6766560" cy="530352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Segoe UI"/>
              </a:defRPr>
            </a:pPr>
            <a:r>
              <a:t>Layered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017520"/>
            <a:ext cx="6217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Frontend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Segoe UI"/>
              </a:defRPr>
            </a:pPr>
            <a:r>
              <a:t>React 18 + TypeScript + Vite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52 shadcn/ui components, TanStack Query v5, D3.js visualizations, Framer Motion animations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Segoe UI"/>
              </a:defRPr>
            </a:pPr>
            <a:r>
              <a:t>FastAPI + 15 REST Routers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43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60+ endpoints organized by domain, JWT auth, rate limiting, request logging, security headers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Engine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Segoe UI"/>
              </a:defRPr>
            </a:pPr>
            <a:r>
              <a:t>11 Pure Python Engines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6635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Risk, compliance, attack paths, anomalies, simulation, hardening, drift, segmentation,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Segoe UI"/>
              </a:defRPr>
            </a:pPr>
            <a:r>
              <a:t>SQLAlchemy 2.x Async 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989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25 models, SQLite dev / PostgreSQL prod, Alembic migrations, full async I/O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Collection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492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Segoe UI"/>
              </a:defRPr>
            </a:pPr>
            <a:r>
              <a:t>4 Multi-Protocol Collectors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81227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SSH (Netmiko), Syslog (async UDP/TCP), REST API, SNMP — auto vendor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2286000"/>
            <a:ext cx="6035040" cy="530352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Segoe UI"/>
              </a:defRPr>
            </a:pPr>
            <a:r>
              <a:t>By the Numbers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017520"/>
            <a:ext cx="54864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200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Database Tables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520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Connections, threats, rules, risk scores, attack paths, topology, backups, audits...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931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API Routers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2519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Auth, enterprise, IP analysis, collectors, backup, syslog, lifecycle, compliance...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Analysis Engines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9834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Risk, compliance, attack path, anomaly, simulation, hardening, drift, segmentation...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394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Dashboard Pages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5715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Each purpose-built for a specific security workflow — no generic views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6126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Segoe UI"/>
              </a:defRPr>
            </a:pPr>
            <a:r>
              <a:t>60+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6126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API Endpoints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6446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Typed TypeScript interfaces for every request and 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6858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6858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Compliance Frameworks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7178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PCI DSS 4.0, NIST 800-53, CIS Benchmarks, HIPAA, SOX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0" y="7772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12 / 16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Segoe UI"/>
              </a:defRPr>
            </a:pPr>
            <a:r>
              <a:t>How We Compare to Market Alternatives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22860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3167360" cy="6400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Fortress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331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Tufin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331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FireMon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2331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AlgoSec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Manual / Scripts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13167360" cy="38404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35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Multi-vendor config parsing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035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035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035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3035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0" y="3035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01568"/>
            <a:ext cx="13167360" cy="384048"/>
          </a:xfrm>
          <a:prstGeom prst="roundRect">
            <a:avLst>
              <a:gd name="adj" fmla="val 5000"/>
            </a:avLst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198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Automated risk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4198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4198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4198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34198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0" y="34198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85615"/>
            <a:ext cx="13167360" cy="38404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80390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Attack path 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803903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803903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3803903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ACC15"/>
                </a:solidFill>
                <a:latin typeface="Segoe UI"/>
              </a:defRPr>
            </a:pPr>
            <a:r>
              <a:t>Limited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3803903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18720" y="3803903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169663"/>
            <a:ext cx="13167360" cy="384048"/>
          </a:xfrm>
          <a:prstGeom prst="roundRect">
            <a:avLst>
              <a:gd name="adj" fmla="val 5000"/>
            </a:avLst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18795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5-framework 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18795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18795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18795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418795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0" y="418795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553712"/>
            <a:ext cx="13167360" cy="38404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5719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Real-time syslog ingestion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457199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457199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ACC15"/>
                </a:solidFill>
                <a:latin typeface="Segoe UI"/>
              </a:defRPr>
            </a:pPr>
            <a:r>
              <a:t>Add-on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57199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457199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ACC15"/>
                </a:solidFill>
                <a:latin typeface="Segoe UI"/>
              </a:defRPr>
            </a:pPr>
            <a:r>
              <a:t>Add-on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618720" y="457199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937760"/>
            <a:ext cx="13167360" cy="384048"/>
          </a:xfrm>
          <a:prstGeom prst="roundRect">
            <a:avLst>
              <a:gd name="adj" fmla="val 5000"/>
            </a:avLst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49560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What-if rule simulation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956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4956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956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4956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618720" y="4956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321808"/>
            <a:ext cx="13167360" cy="38404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53400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Rule lifecycle governance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0640" y="53400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53400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53400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64240" y="53400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ACC15"/>
                </a:solidFill>
                <a:latin typeface="Segoe UI"/>
              </a:defRPr>
            </a:pPr>
            <a:r>
              <a:t>Limited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618720" y="53400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" y="5705856"/>
            <a:ext cx="13167360" cy="384048"/>
          </a:xfrm>
          <a:prstGeom prst="roundRect">
            <a:avLst>
              <a:gd name="adj" fmla="val 5000"/>
            </a:avLst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57241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Change management workflow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20640" y="57241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57241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35440" y="57241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64240" y="57241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618720" y="57241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6089904"/>
            <a:ext cx="13167360" cy="38404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60" y="61081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On-premise deployment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20640" y="61081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06640" y="61081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35440" y="61081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64240" y="61081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618720" y="61081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1520" y="6473952"/>
            <a:ext cx="13167360" cy="384048"/>
          </a:xfrm>
          <a:prstGeom prst="roundRect">
            <a:avLst>
              <a:gd name="adj" fmla="val 5000"/>
            </a:avLst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2960" y="6492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No per-device licensing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2064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0664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3544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6424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6187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31520" y="6858000"/>
            <a:ext cx="13167360" cy="384048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2960" y="68762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Open API / full customization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20640" y="68762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06640" y="68762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ACC15"/>
                </a:solidFill>
                <a:latin typeface="Segoe UI"/>
              </a:defRPr>
            </a:pPr>
            <a:r>
              <a:t>Limited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35440" y="68762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ACC15"/>
                </a:solidFill>
                <a:latin typeface="Segoe UI"/>
              </a:defRPr>
            </a:pPr>
            <a:r>
              <a:t>Limited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64240" y="68762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ACC15"/>
                </a:solidFill>
                <a:latin typeface="Segoe UI"/>
              </a:defRPr>
            </a:pPr>
            <a:r>
              <a:t>Limited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618720" y="68762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1520" y="7242048"/>
            <a:ext cx="13167360" cy="384048"/>
          </a:xfrm>
          <a:prstGeom prst="roundRect">
            <a:avLst>
              <a:gd name="adj" fmla="val 5000"/>
            </a:avLst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960" y="72603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Sub-$50K total cost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20640" y="726033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06640" y="726033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235440" y="726033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64240" y="726033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618720" y="726033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7280" y="76809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 Italic"/>
              </a:defRPr>
            </a:pPr>
            <a:r>
              <a:t>Enterprise competitors (Tufin, FireMon, AlgoSec) charge $100K-$500K+ annually with per-device licensing. Fortress Lens delivers comparable capabilities at a fraction of the cost with full customization.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258800" y="7772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13 / 16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WHY FORTRESS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8FAFC"/>
                </a:solidFill>
                <a:latin typeface="Segoe UI"/>
              </a:defRPr>
            </a:pPr>
            <a:r>
              <a:t>The ROI Case for Fortress Lens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6583680" cy="173736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304288"/>
            <a:ext cx="63093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79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Segoe UI"/>
              </a:defRPr>
            </a:pPr>
            <a:r>
              <a:t>Immediate Time to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Upload a config file. Get a complete risk assessment, compliance report, and attack path analysis in under 60 seconds. No weeks-long deployment. No professional services engagement. No training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194560"/>
            <a:ext cx="6583680" cy="173736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2304288"/>
            <a:ext cx="630936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2468879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Segoe UI"/>
              </a:defRPr>
            </a:pPr>
            <a:r>
              <a:t>Predictable, Transparent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88036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No per-device fees. No per-user seats. No surprise add-on charges. One platform price covers unlimited firewalls, unlimited users, and every feature — including future updates.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6583680" cy="173736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4224528"/>
            <a:ext cx="63093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Segoe UI"/>
              </a:defRPr>
            </a:pPr>
            <a:r>
              <a:t>Full Ownership &amp;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006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Deploy on-premise or in your private cloud. Your data never leaves your infrastructure. Full API access for custom integrations. Source code transparency — no black-box algorithms.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4114800"/>
            <a:ext cx="6583680" cy="173736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4224528"/>
            <a:ext cx="63093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43891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Segoe UI"/>
              </a:defRPr>
            </a:pPr>
            <a:r>
              <a:t>Built for Modern SecOps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8006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REST API-first architecture integrates with your existing SIEM, SOAR, and ticketing systems. Change management workflows fit into your existing ITIL processes. Git-like config versioning for auditors.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035040"/>
            <a:ext cx="6583680" cy="173736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6144768"/>
            <a:ext cx="63093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6309359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Segoe UI"/>
              </a:defRPr>
            </a:pPr>
            <a:r>
              <a:t>Reduce Risk, Prove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72084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Every finding comes with evidence chains. Every compliance check links to specific rules. Every remediation task tracks to resolution. Give auditors exactly what they need — instantly.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6035040"/>
            <a:ext cx="6583680" cy="173736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18120" y="6144768"/>
            <a:ext cx="630936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6309359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Segoe UI"/>
              </a:defRPr>
            </a:pPr>
            <a:r>
              <a:t>Scale Without Limits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672084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Async architecture handles thousands of rules and hundreds of thousands of attack paths. PostgreSQL for production scale. Add firewalls without adding licenses.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0" y="7772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14 / 16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SECURITY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8FAFC"/>
                </a:solidFill>
                <a:latin typeface="Segoe UI"/>
              </a:defRPr>
            </a:pPr>
            <a:r>
              <a:t>Built Secure. Deployed Your Way.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2286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6400800" cy="50292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Security Built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017520"/>
            <a:ext cx="58521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EF4444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JWT authentication with bcrypt password hashing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EF4444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Role-based access control (admin, analyst, viewer, auditor)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EF4444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Rate limiting on all sensitive endpoints (login, register, API)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EF4444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Security headers middleware (CSP, HSTS, X-Frame-Options)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EF4444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Upload size limits with content validation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EF4444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Request logging and admin audit trail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EF4444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No external data transmission — all processing is local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EF4444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CORS configured per environment — no wildcard defaults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EF4444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Password strength validation with complexity requirements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EF4444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Secrets managed via environment variables — never hardcoded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286000"/>
            <a:ext cx="6400800" cy="502920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Segoe UI"/>
              </a:defRPr>
            </a:pPr>
            <a:r>
              <a:t>Deployment Options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3017520"/>
            <a:ext cx="585216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20040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22C55E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On-Premise: Docker Compose with PostgreSQL and Nginx reverse proxy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22C55E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Private Cloud: AWS / Azure / GCP with container orchestration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22C55E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Air-Gapped: Fully offline deployment with SQLite — zero dependencies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22C55E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Dev Mode: Single command startup (python main.py) with SQLite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22C55E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Production DB: PostgreSQL with async connection pooling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22C55E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Frontend: Static build served via CDN or Nginx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22C55E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Monitoring: Health endpoints, structured logging, Grafana-ready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22C55E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Backup: SSH-based config collection with hash-based change detection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22C55E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Scaling: Async architecture — non-blocking I/O throughout the stack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900">
                <a:solidFill>
                  <a:srgbClr val="22C55E"/>
                </a:solidFill>
                <a:latin typeface="Segoe UI"/>
              </a:rPr>
              <a:t>●  </a:t>
            </a:r>
            <a:r>
              <a:rPr sz="1200">
                <a:solidFill>
                  <a:srgbClr val="94A3B8"/>
                </a:solidFill>
                <a:latin typeface="Segoe UI"/>
              </a:rPr>
              <a:t>Updates: Alembic migrations for zero-downtime schema evolution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0" y="7772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15 / 16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 Semibold"/>
              </a:defRPr>
            </a:pPr>
            <a:r>
              <a:t>FORTRESS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  <a:latin typeface="Segoe UI Light"/>
              </a:defRPr>
            </a:pPr>
            <a:r>
              <a:t>Ready to See Your Firewall Clearly?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11480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 Light"/>
              </a:defRPr>
            </a:pPr>
            <a:r>
              <a:t>Request a live demo with your own firewall configuration.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See real risk scores, actual attack paths, and compliance results — not simulated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62179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Schedule a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766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Contact your account representative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62179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Technical Deep Dive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766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API docs &amp; architecture walkthrough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62179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Proof of Concept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766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Free 30-day POC with your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7589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Fortress Lens  |  Enterprise Firewall Analytics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0" y="7772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16 / 16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